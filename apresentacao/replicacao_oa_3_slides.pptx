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443c7d6193429b" /><Relationship Type="http://schemas.openxmlformats.org/officeDocument/2006/relationships/extended-properties" Target="/docProps/app.xml" Id="R18c867fc15d5450a" /><Relationship Type="http://schemas.openxmlformats.org/officeDocument/2006/relationships/officeDocument" Target="/ppt/presentation.xml" Id="R9b306bf8081b40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f7fa60ef8e4719"/>
  </p:sldMasterIdLst>
  <p:notesMasterIdLst>
    <p:notesMasterId xmlns:r="http://schemas.openxmlformats.org/officeDocument/2006/relationships" r:id="R21776c0b88164b36"/>
  </p:notesMasterIdLst>
  <p:sldIdLst>
    <p:sldId xmlns:r="http://schemas.openxmlformats.org/officeDocument/2006/relationships" id="256" r:id="R8a4d7b013010431c"/>
    <p:sldId xmlns:r="http://schemas.openxmlformats.org/officeDocument/2006/relationships" id="257" r:id="R5508ec5a29a44845"/>
    <p:sldId xmlns:r="http://schemas.openxmlformats.org/officeDocument/2006/relationships" id="258" r:id="Rb8086384a90c42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a3c7b93c7b4225" /><Relationship Type="http://schemas.openxmlformats.org/officeDocument/2006/relationships/slideMaster" Target="/ppt/slideMasters/slideMaster1.xml" Id="R84f7fa60ef8e4719" /><Relationship Type="http://schemas.openxmlformats.org/officeDocument/2006/relationships/notesMaster" Target="/ppt/notesMasters/notesMaster1.xml" Id="R21776c0b88164b36" /><Relationship Type="http://schemas.openxmlformats.org/officeDocument/2006/relationships/presProps" Target="/ppt/presProps.xml" Id="Rca5b08009f834870" /><Relationship Type="http://schemas.openxmlformats.org/officeDocument/2006/relationships/tableStyles" Target="/ppt/tableStyles.xml" Id="Rdae76f7b14bf494b" /><Relationship Type="http://schemas.openxmlformats.org/officeDocument/2006/relationships/slide" Target="/ppt/slides/slide1.xml" Id="R8a4d7b013010431c" /><Relationship Type="http://schemas.openxmlformats.org/officeDocument/2006/relationships/slide" Target="/ppt/slides/slide2.xml" Id="R5508ec5a29a44845" /><Relationship Type="http://schemas.openxmlformats.org/officeDocument/2006/relationships/slide" Target="/ppt/slides/slide3.xml" Id="Rb8086384a90c42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e8c401425a4d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9e68a6f2b34c40" /><Relationship Type="http://schemas.openxmlformats.org/officeDocument/2006/relationships/notesMaster" Target="/ppt/notesMasters/notesMaster1.xml" Id="Rfbee9bf04f8049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631586246747c2" /><Relationship Type="http://schemas.openxmlformats.org/officeDocument/2006/relationships/notesMaster" Target="/ppt/notesMasters/notesMaster1.xml" Id="R77f5d7f8407042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d5ad7cf0d84d69" /><Relationship Type="http://schemas.openxmlformats.org/officeDocument/2006/relationships/notesMaster" Target="/ppt/notesMasters/notesMaster1.xml" Id="R2142b5bb001a43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Estudo de referência: Moraes, Borba e Da Silva, Semantic conflict detection via dynamic analysis, SBLP 2024. https://doi.org/10.5753/sblp.2024.3471</a:t>
            </a:r>
          </a:p>
          <a:p xmlns:a="http://schemas.openxmlformats.org/drawingml/2006/main">
            <a:r>
              <a:t>Ferramentas: https://github.com/spgroup/miningframework e https://github.com/Samsung/jalangi2.</a:t>
            </a:r>
          </a:p>
          <a:p xmlns:a="http://schemas.openxmlformats.org/drawingml/2006/main">
            <a:r>
              <a:t>Implementação independente: analisador_oa/analysis.js; documentação em analisador_oa/README.md. O pacote original da Amanda não foi recuperado. A versão própria não tem equivalência demonstrada. O MiningFramework precisou de ajustes de configuração de build, sem alteração do algoritmo de mineração.</a:t>
            </a:r>
          </a:p>
          <a:p xmlns:a="http://schemas.openxmlformats.org/drawingml/2006/main">
            <a:r>
              <a:t>Evidência: FERRAMENTAS_OFICIAIS_EXECUTADAS.md e RESULTADO_OA.md. Repositório: https://github.com/PriscilaDevGirl/MergeReplicacaoOADF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Dados do lote oficial: resultados/miningframework/saida_oficial/data/results.csv, 5 merges e 6 pares arquivo-merge. Repetição confirmada em resultados/miningframework/reproducibilidade.json.</a:t>
            </a:r>
          </a:p>
          <a:p xmlns:a="http://schemas.openxmlformats.org/drawingml/2006/main">
            <a:r>
              <a:t>Aplicação OA: resultados/oa_coleta/resumo.json e resultados.csv. Foram 4 sucessos sem eventos e 2 erros, com $ is not defined nos arquivos de testes. Não são 6 caminhos de arquivo distintos: são versões de arquivos em merges.</a:t>
            </a:r>
          </a:p>
          <a:p xmlns:a="http://schemas.openxmlformats.org/drawingml/2006/main">
            <a:r>
              <a:t>Validação: resultados/oa_validacao/resumo.json. 44 controles próprios: 16 positivos, 17 negativos, 5 verificações de avisos, 3 rejeições de fontes e 3 verificações adicionais de integridade/mapeamento. Não equivalem a 100% de precisão do detector. A suíte original tinha 69 casos avaliáveis e não foi executada.</a:t>
            </a:r>
          </a:p>
          <a:p xmlns:a="http://schemas.openxmlformats.org/drawingml/2006/main">
            <a:r>
              <a:t>Exemplo apresentado é sintético, de experimentos/oa_controles/variable_overwrite/program.js. Evento preservado em resultados/oa_validacao/variable_overwrite/oa_report.json. O evento não é uma descoberta de conflito em um projeto real.</a:t>
            </a:r>
          </a:p>
          <a:p xmlns:a="http://schemas.openxmlformats.org/drawingml/2006/main">
            <a:r>
              <a:t>Fontes no repositório: https://github.com/PriscilaDevGirl/MergeReplicacaoOADF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Fontes: resultados/oa_coleta/resumo.json; RESULTADO_OA.md; analisador_oa/README.md. Somente o arquivo underscore.js no merge a2aab7c69968 registrou linhas com eventos rastreados de L e R (1 e 24). Esse indicador conta escritas e invocações associadas a linhas, não cobertura completa de linhas ou caminhos.</a:t>
            </a:r>
          </a:p>
          <a:p xmlns:a="http://schemas.openxmlformats.org/drawingml/2006/main">
            <a:r>
              <a:t>O mapeamento deriva de hunks do Git e exige revisão manual. A implementação própria cobre um subconjunto síncrono ES5 com modelos restritos de operações nativas. Não há estimativa empírica de recall, acurácia ou superioridade.</a:t>
            </a:r>
          </a:p>
          <a:p xmlns:a="http://schemas.openxmlformats.org/drawingml/2006/main">
            <a:r>
              <a:t>A extensão com dataflow ainda não foi implementada. Propagação de contexto em chamadas do núcleo OA não é uma análise geral de dataflow.</a:t>
            </a:r>
          </a:p>
          <a:p xmlns:a="http://schemas.openxmlformats.org/drawingml/2006/main">
            <a:r>
              <a:t>A coleta oficial examinou um lote de 5 merges. A exploração anterior de 509 merges usou Git/Python e permanece separada.</a:t>
            </a:r>
          </a:p>
          <a:p xmlns:a="http://schemas.openxmlformats.org/drawingml/2006/main">
            <a:r>
              <a:t>Repositório: https://github.com/PriscilaDevGirl/MergeReplicacaoOADF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c370f92a648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c178dc7bc441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cfae2ea8948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c1b39a61249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3c2b8733249c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bf7f9630f43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40C2B0-CD72-45D9-B7BD-671D766FC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A86D29-2C59-4584-A97F-3862E0C8A2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FDAD3D-F41D-487A-BC93-C04FFF23C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0E6064-91F0-4FAC-9C02-FA47238DE8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C47239-1D56-458A-B0C0-312BFEF983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84B3FA-C4A0-4CF8-9176-5044DDF330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46C64C-E6C9-437B-8D34-E71763C1AE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311AE0-C372-4AB1-90B3-2BC8B2778D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612FF3-DAB4-40E4-8FFA-EF50BED67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7D716A-1F6B-4130-AD5A-913B32BC44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15cf87387349ae" /><Relationship Type="http://schemas.openxmlformats.org/officeDocument/2006/relationships/slideLayout" Target="/ppt/slideLayouts/slideLayout1.xml" Id="R5111a6206c364a41" /><Relationship Type="http://schemas.openxmlformats.org/officeDocument/2006/relationships/slideLayout" Target="/ppt/slideLayouts/slideLayout2.xml" Id="R1b439f9cde8a47fd" /><Relationship Type="http://schemas.openxmlformats.org/officeDocument/2006/relationships/slideLayout" Target="/ppt/slideLayouts/slideLayout3.xml" Id="Ra255d9b3e0114355" /><Relationship Type="http://schemas.openxmlformats.org/officeDocument/2006/relationships/slideLayout" Target="/ppt/slideLayouts/slideLayout4.xml" Id="Rba993c0e80304552" /><Relationship Type="http://schemas.openxmlformats.org/officeDocument/2006/relationships/slideLayout" Target="/ppt/slideLayouts/slideLayout5.xml" Id="R1e5576e725ed41a4" /><Relationship Type="http://schemas.openxmlformats.org/officeDocument/2006/relationships/slideLayout" Target="/ppt/slideLayouts/slideLayout6.xml" Id="R6dc367b4a3d046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11a6206c364a41"/>
    <p:sldLayoutId xmlns:r="http://schemas.openxmlformats.org/officeDocument/2006/relationships" id="2147483650" r:id="R1b439f9cde8a47fd"/>
    <p:sldLayoutId xmlns:r="http://schemas.openxmlformats.org/officeDocument/2006/relationships" id="2147483651" r:id="Ra255d9b3e0114355"/>
    <p:sldLayoutId xmlns:r="http://schemas.openxmlformats.org/officeDocument/2006/relationships" id="2147483652" r:id="Rba993c0e80304552"/>
    <p:sldLayoutId xmlns:r="http://schemas.openxmlformats.org/officeDocument/2006/relationships" id="2147483653" r:id="R1e5576e725ed41a4"/>
    <p:sldLayoutId xmlns:r="http://schemas.openxmlformats.org/officeDocument/2006/relationships" id="2147483654" r:id="R6dc367b4a3d0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d8681aa914b4d" /><Relationship Type="http://schemas.openxmlformats.org/officeDocument/2006/relationships/notesSlide" Target="/ppt/notesSlides/notesSlide1.xml" Id="R669c47c769ba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339de584ee40e6" /><Relationship Type="http://schemas.openxmlformats.org/officeDocument/2006/relationships/notesSlide" Target="/ppt/notesSlides/notesSlide2.xml" Id="R6f1be5b06b5c44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c1b5a48e4046eb" /><Relationship Type="http://schemas.openxmlformats.org/officeDocument/2006/relationships/notesSlide" Target="/ppt/notesSlides/notesSlide3.xml" Id="Rb8a81660cc0447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35631-3033-4B0C-A566-0EA2E896FDA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763000" y="2876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AA9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469AF-ED3D-4258-97D5-0C51C2D70B1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43600" y="2876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AA9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37CDD-2FA0-4A1A-AC4A-697BA5D88E7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24200" y="28765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E9AA9"/>
            </a:solidFill>
            <a:tailEnd type="arrow" w="med" len="med"/>
          </a:ln>
        </p:spPr>
      </p:cxn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C3B8FAA-75B6-40E2-89F5-41DCEE8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Aprofundamento e implementação</a:t>
            </a:r>
          </a:p>
        </p:txBody>
      </p:sp>
      <p:sp>
        <p:nvSpPr>
          <p:cNvPr id="6" name="context">
            <a:extLst xmlns:a="http://schemas.openxmlformats.org/drawingml/2006/main">
              <a:ext uri="{FF2B5EF4-FFF2-40B4-BE49-F238E27FC236}">
                <a16:creationId xmlns:a16="http://schemas.microsoft.com/office/drawing/2014/main" id="{8EAECA4C-6061-42EC-B0DD-6222CB88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Fluxo experimental baseado no estudo de Moraes, Borba e Da Silva (2024)</a:t>
            </a:r>
          </a:p>
        </p:txBody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A5E39992-13E6-4AE3-A0B4-C9F22C14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7E9AA9"/>
            </a:solidFill>
          </a:ln>
        </p:spPr>
      </p:sp>
      <p:sp>
        <p:nvSpPr>
          <p:cNvPr id="8" name="flow-title-0">
            <a:extLst xmlns:a="http://schemas.openxmlformats.org/drawingml/2006/main">
              <a:ext uri="{FF2B5EF4-FFF2-40B4-BE49-F238E27FC236}">
                <a16:creationId xmlns:a16="http://schemas.microsoft.com/office/drawing/2014/main" id="{0BE5F6CD-9E04-421E-A3C8-B33837ED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MiningFramework</a:t>
            </a:r>
          </a:p>
        </p:txBody>
      </p:sp>
      <p:sp>
        <p:nvSpPr>
          <p:cNvPr id="9" name="flow-origin-0">
            <a:extLst xmlns:a="http://schemas.openxmlformats.org/drawingml/2006/main">
              <a:ext uri="{FF2B5EF4-FFF2-40B4-BE49-F238E27FC236}">
                <a16:creationId xmlns:a16="http://schemas.microsoft.com/office/drawing/2014/main" id="{9E41E6D2-D63F-4C39-A524-5C708A54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Ferramenta oficial</a:t>
            </a:r>
          </a:p>
        </p:txBody>
      </p:sp>
      <p:sp>
        <p:nvSpPr>
          <p:cNvPr id="10" name="flow-detail-0">
            <a:extLst xmlns:a="http://schemas.openxmlformats.org/drawingml/2006/main">
              <a:ext uri="{FF2B5EF4-FFF2-40B4-BE49-F238E27FC236}">
                <a16:creationId xmlns:a16="http://schemas.microsoft.com/office/drawing/2014/main" id="{AF1B70D4-3409-4BBA-AB77-A000CCBA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Coleta dos merges</a:t>
            </a:r>
          </a:p>
        </p:txBody>
      </p:sp>
      <p:sp>
        <p:nvSpPr>
          <p:cNvPr id="11" name="flow-node-1">
            <a:extLst xmlns:a="http://schemas.openxmlformats.org/drawingml/2006/main">
              <a:ext uri="{FF2B5EF4-FFF2-40B4-BE49-F238E27FC236}">
                <a16:creationId xmlns:a16="http://schemas.microsoft.com/office/drawing/2014/main" id="{ABD4B830-CF6D-47DF-9E77-FD10BFD0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7E9AA9"/>
            </a:solidFill>
          </a:ln>
        </p:spPr>
      </p:sp>
      <p:sp>
        <p:nvSpPr>
          <p:cNvPr id="12" name="flow-title-1">
            <a:extLst xmlns:a="http://schemas.openxmlformats.org/drawingml/2006/main">
              <a:ext uri="{FF2B5EF4-FFF2-40B4-BE49-F238E27FC236}">
                <a16:creationId xmlns:a16="http://schemas.microsoft.com/office/drawing/2014/main" id="{32E21BEC-F310-4141-8158-05C459E0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5267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Mapeamento</a:t>
            </a:r>
          </a:p>
        </p:txBody>
      </p:sp>
      <p:sp>
        <p:nvSpPr>
          <p:cNvPr id="13" name="flow-origin-1">
            <a:extLst xmlns:a="http://schemas.openxmlformats.org/drawingml/2006/main">
              <a:ext uri="{FF2B5EF4-FFF2-40B4-BE49-F238E27FC236}">
                <a16:creationId xmlns:a16="http://schemas.microsoft.com/office/drawing/2014/main" id="{C085EC8F-3FC1-4497-93ED-5DD15B92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003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Implementação própria</a:t>
            </a:r>
          </a:p>
        </p:txBody>
      </p:sp>
      <p:sp>
        <p:nvSpPr>
          <p:cNvPr id="14" name="flow-detail-1">
            <a:extLst xmlns:a="http://schemas.openxmlformats.org/drawingml/2006/main">
              <a:ext uri="{FF2B5EF4-FFF2-40B4-BE49-F238E27FC236}">
                <a16:creationId xmlns:a16="http://schemas.microsoft.com/office/drawing/2014/main" id="{8416E5C2-2387-47D4-BBAC-BFD01D2E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Origem das linhas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CF06BB42-21F5-430D-97BC-E0232315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7E9AA9"/>
            </a:solidFill>
          </a:ln>
        </p:spPr>
      </p:sp>
      <p:sp>
        <p:nvSpPr>
          <p:cNvPr id="16" name="flow-title-2">
            <a:extLst xmlns:a="http://schemas.openxmlformats.org/drawingml/2006/main">
              <a:ext uri="{FF2B5EF4-FFF2-40B4-BE49-F238E27FC236}">
                <a16:creationId xmlns:a16="http://schemas.microsoft.com/office/drawing/2014/main" id="{5CCCDADE-66A8-4D5C-9109-1A8A62B3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5267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Jalangi2 + OA</a:t>
            </a:r>
          </a:p>
        </p:txBody>
      </p:sp>
      <p:sp>
        <p:nvSpPr>
          <p:cNvPr id="17" name="flow-origin-2">
            <a:extLst xmlns:a="http://schemas.openxmlformats.org/drawingml/2006/main">
              <a:ext uri="{FF2B5EF4-FFF2-40B4-BE49-F238E27FC236}">
                <a16:creationId xmlns:a16="http://schemas.microsoft.com/office/drawing/2014/main" id="{6CDC2B40-769C-41C7-8556-75F21E9E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03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Oficial + independente</a:t>
            </a:r>
          </a:p>
        </p:txBody>
      </p:sp>
      <p:sp>
        <p:nvSpPr>
          <p:cNvPr id="18" name="flow-detail-2">
            <a:extLst xmlns:a="http://schemas.openxmlformats.org/drawingml/2006/main">
              <a:ext uri="{FF2B5EF4-FFF2-40B4-BE49-F238E27FC236}">
                <a16:creationId xmlns:a16="http://schemas.microsoft.com/office/drawing/2014/main" id="{C0680B3E-98BC-415D-B4FF-6978CD2A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Instrumentação e análise</a:t>
            </a:r>
          </a:p>
        </p:txBody>
      </p:sp>
      <p:sp>
        <p:nvSpPr>
          <p:cNvPr id="19" name="flow-node-3">
            <a:extLst xmlns:a="http://schemas.openxmlformats.org/drawingml/2006/main">
              <a:ext uri="{FF2B5EF4-FFF2-40B4-BE49-F238E27FC236}">
                <a16:creationId xmlns:a16="http://schemas.microsoft.com/office/drawing/2014/main" id="{1451C674-15FF-4CCF-BF2A-655E92B8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90750"/>
            <a:ext cx="2514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9525">
            <a:solidFill>
              <a:srgbClr val="7E9AA9"/>
            </a:solidFill>
          </a:ln>
        </p:spPr>
      </p:sp>
      <p:sp>
        <p:nvSpPr>
          <p:cNvPr id="20" name="flow-title-3">
            <a:extLst xmlns:a="http://schemas.openxmlformats.org/drawingml/2006/main">
              <a:ext uri="{FF2B5EF4-FFF2-40B4-BE49-F238E27FC236}">
                <a16:creationId xmlns:a16="http://schemas.microsoft.com/office/drawing/2014/main" id="{6505084E-245F-49BE-A545-52262397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52675"/>
            <a:ext cx="2209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Resultados</a:t>
            </a:r>
          </a:p>
        </p:txBody>
      </p:sp>
      <p:sp>
        <p:nvSpPr>
          <p:cNvPr id="21" name="flow-origin-3">
            <a:extLst xmlns:a="http://schemas.openxmlformats.org/drawingml/2006/main">
              <a:ext uri="{FF2B5EF4-FFF2-40B4-BE49-F238E27FC236}">
                <a16:creationId xmlns:a16="http://schemas.microsoft.com/office/drawing/2014/main" id="{64689155-CFD6-4AB0-9AEF-C3C764E1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2209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Saída do experimento</a:t>
            </a:r>
          </a:p>
        </p:txBody>
      </p:sp>
      <p:sp>
        <p:nvSpPr>
          <p:cNvPr id="22" name="flow-detail-3">
            <a:extLst xmlns:a="http://schemas.openxmlformats.org/drawingml/2006/main">
              <a:ext uri="{FF2B5EF4-FFF2-40B4-BE49-F238E27FC236}">
                <a16:creationId xmlns:a16="http://schemas.microsoft.com/office/drawing/2014/main" id="{0C25A3DD-960A-4EED-9D3A-AA8B280F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209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Eventos e diagnósticos</a:t>
            </a:r>
          </a:p>
        </p:txBody>
      </p:sp>
      <p:sp>
        <p:nvSpPr>
          <p:cNvPr id="23" name="official-heading">
            <a:extLst xmlns:a="http://schemas.openxmlformats.org/drawingml/2006/main">
              <a:ext uri="{FF2B5EF4-FFF2-40B4-BE49-F238E27FC236}">
                <a16:creationId xmlns:a16="http://schemas.microsoft.com/office/drawing/2014/main" id="{5F22CDC8-C1D7-41F4-97D6-C609464C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Ferramentas oficiais executadas</a:t>
            </a:r>
          </a:p>
        </p:txBody>
      </p:sp>
      <p:sp>
        <p:nvSpPr>
          <p:cNvPr id="24" name="official-body">
            <a:extLst xmlns:a="http://schemas.openxmlformats.org/drawingml/2006/main">
              <a:ext uri="{FF2B5EF4-FFF2-40B4-BE49-F238E27FC236}">
                <a16:creationId xmlns:a16="http://schemas.microsoft.com/office/drawing/2014/main" id="{495C1C7E-A20B-464A-9CA2-066177D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MiningFramework e Jalangi2 com versões registradas.</a:t>
            </a:r>
          </a:p>
        </p:txBody>
      </p:sp>
      <p:sp>
        <p:nvSpPr>
          <p:cNvPr id="25" name="own-heading">
            <a:extLst xmlns:a="http://schemas.openxmlformats.org/drawingml/2006/main">
              <a:ext uri="{FF2B5EF4-FFF2-40B4-BE49-F238E27FC236}">
                <a16:creationId xmlns:a16="http://schemas.microsoft.com/office/drawing/2014/main" id="{B65B0ABF-2CDB-4B6F-A188-A6EB82BD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767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Reimplementação independente</a:t>
            </a:r>
          </a:p>
        </p:txBody>
      </p:sp>
      <p:sp>
        <p:nvSpPr>
          <p:cNvPr id="26" name="own-body">
            <a:extLst xmlns:a="http://schemas.openxmlformats.org/drawingml/2006/main">
              <a:ext uri="{FF2B5EF4-FFF2-40B4-BE49-F238E27FC236}">
                <a16:creationId xmlns:a16="http://schemas.microsoft.com/office/drawing/2014/main" id="{791FBDC9-EAD3-48CF-A357-916BC92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62475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Mapeador conservador e núcleo OA experimental v0.2.</a:t>
            </a:r>
          </a:p>
        </p:txBody>
      </p:sp>
      <p:sp>
        <p:nvSpPr>
          <p:cNvPr id="27" name="limit">
            <a:extLst xmlns:a="http://schemas.openxmlformats.org/drawingml/2006/main">
              <a:ext uri="{FF2B5EF4-FFF2-40B4-BE49-F238E27FC236}">
                <a16:creationId xmlns:a16="http://schemas.microsoft.com/office/drawing/2014/main" id="{9C7CFF1A-6744-4692-A28C-956A6529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Pacote original ainda indisponível.</a:t>
            </a:r>
          </a:p>
          <a:p xmlns:a="http://schemas.openxmlformats.org/drawingml/2006/main">
            <a: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Equivalência com a implementação da Amanda não demonstrada.</a:t>
            </a:r>
          </a:p>
        </p:txBody>
      </p:sp>
    </p:spTree>
    <p:extLst>
      <p:ext uri="{BB962C8B-B14F-4D97-AF65-F5344CB8AC3E}">
        <p14:creationId xmlns:p14="http://schemas.microsoft.com/office/powerpoint/2010/main" val="922856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8C1AE6-4A3B-4B34-8D28-E8B35A44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Resultados do piloto</a:t>
            </a:r>
          </a:p>
        </p:txBody>
      </p:sp>
      <p:sp>
        <p:nvSpPr>
          <p:cNvPr id="3" name="metric-number-0">
            <a:extLst xmlns:a="http://schemas.openxmlformats.org/drawingml/2006/main">
              <a:ext uri="{FF2B5EF4-FFF2-40B4-BE49-F238E27FC236}">
                <a16:creationId xmlns:a16="http://schemas.microsoft.com/office/drawing/2014/main" id="{FECD3C07-48C7-4FB1-9BE7-5CE73F76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6B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EA912B2-EF11-4F4E-8879-E504D465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merges oficiais</a:t>
            </a:r>
          </a:p>
        </p:txBody>
      </p:sp>
      <p:sp>
        <p:nvSpPr>
          <p:cNvPr id="5" name="metric-number-1">
            <a:extLst xmlns:a="http://schemas.openxmlformats.org/drawingml/2006/main">
              <a:ext uri="{FF2B5EF4-FFF2-40B4-BE49-F238E27FC236}">
                <a16:creationId xmlns:a16="http://schemas.microsoft.com/office/drawing/2014/main" id="{2533E06E-04DD-4E2F-BB8C-7B580FF1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6B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0B1252A7-38B7-4A99-BF4F-CE15BDC5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907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arquivos integrados</a:t>
            </a:r>
          </a:p>
        </p:txBody>
      </p:sp>
      <p:sp>
        <p:nvSpPr>
          <p:cNvPr id="7" name="metric-number-2">
            <a:extLst xmlns:a="http://schemas.openxmlformats.org/drawingml/2006/main">
              <a:ext uri="{FF2B5EF4-FFF2-40B4-BE49-F238E27FC236}">
                <a16:creationId xmlns:a16="http://schemas.microsoft.com/office/drawing/2014/main" id="{495D7574-0442-4626-BE13-56B87810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76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176B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C7D1724-FA06-4FE2-A8FD-1A904F0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execuções válidas</a:t>
            </a:r>
          </a:p>
        </p:txBody>
      </p:sp>
      <p:sp>
        <p:nvSpPr>
          <p:cNvPr id="9" name="metric-number-3">
            <a:extLst xmlns:a="http://schemas.openxmlformats.org/drawingml/2006/main">
              <a:ext uri="{FF2B5EF4-FFF2-40B4-BE49-F238E27FC236}">
                <a16:creationId xmlns:a16="http://schemas.microsoft.com/office/drawing/2014/main" id="{2829FDA0-2D26-4C8A-8F11-F1C123EE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76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A14C3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14C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8FAEE099-3D15-4FB8-A242-0402218A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907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erros de execução</a:t>
            </a:r>
          </a:p>
        </p:txBody>
      </p:sp>
      <p:sp>
        <p:nvSpPr>
          <p:cNvPr id="11" name="unit">
            <a:extLst xmlns:a="http://schemas.openxmlformats.org/drawingml/2006/main">
              <a:ext uri="{FF2B5EF4-FFF2-40B4-BE49-F238E27FC236}">
                <a16:creationId xmlns:a16="http://schemas.microsoft.com/office/drawing/2014/main" id="{AC0E2628-8364-479D-AAF7-5EC0066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Unidade: par arquivo–merge. Os dois erros decorreram de contexto de testes ausente.</a:t>
            </a:r>
          </a:p>
        </p:txBody>
      </p:sp>
      <p:sp>
        <p:nvSpPr>
          <p:cNvPr id="12" name="controls-number">
            <a:extLst xmlns:a="http://schemas.openxmlformats.org/drawingml/2006/main">
              <a:ext uri="{FF2B5EF4-FFF2-40B4-BE49-F238E27FC236}">
                <a16:creationId xmlns:a16="http://schemas.microsoft.com/office/drawing/2014/main" id="{E706B945-4A90-41D2-8C59-20755FDD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28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6B8C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13" name="controls-title">
            <a:extLst xmlns:a="http://schemas.openxmlformats.org/drawingml/2006/main">
              <a:ext uri="{FF2B5EF4-FFF2-40B4-BE49-F238E27FC236}">
                <a16:creationId xmlns:a16="http://schemas.microsoft.com/office/drawing/2014/main" id="{CC6E69C8-B11D-4C76-BF93-D04CE2E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481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controles próprios</a:t>
            </a:r>
          </a:p>
          <a:p xmlns:a="http://schemas.openxmlformats.org/drawingml/2006/main">
            <a:pPr algn="l">
              <a:defRPr sz="2175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aprovados</a:t>
            </a:r>
          </a:p>
        </p:txBody>
      </p:sp>
      <p:sp>
        <p:nvSpPr>
          <p:cNvPr id="14" name="controls-body">
            <a:extLst xmlns:a="http://schemas.openxmlformats.org/drawingml/2006/main">
              <a:ext uri="{FF2B5EF4-FFF2-40B4-BE49-F238E27FC236}">
                <a16:creationId xmlns:a16="http://schemas.microsoft.com/office/drawing/2014/main" id="{6FB87D59-B835-455F-AC76-C82E4B4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857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Suíte sintética independente.</a:t>
            </a:r>
          </a:p>
          <a:p xmlns:a="http://schemas.openxmlformats.org/drawingml/2006/main">
            <a: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A suíte original de 69 casos</a:t>
            </a:r>
          </a:p>
          <a:p xmlns:a="http://schemas.openxmlformats.org/drawingml/2006/main">
            <a:pPr algn="l">
              <a:defRPr sz="1800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ainda não foi executada.</a:t>
            </a:r>
          </a:p>
        </p:txBody>
      </p:sp>
      <p:sp>
        <p:nvSpPr>
          <p:cNvPr id="15" name="example-title">
            <a:extLst xmlns:a="http://schemas.openxmlformats.org/drawingml/2006/main">
              <a:ext uri="{FF2B5EF4-FFF2-40B4-BE49-F238E27FC236}">
                <a16:creationId xmlns:a16="http://schemas.microsoft.com/office/drawing/2014/main" id="{35F2AC5A-C18F-4433-B680-1353B261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9525"/>
            <a:ext cx="506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Exemplo positivo sintético</a:t>
            </a:r>
          </a:p>
        </p:txBody>
      </p:sp>
      <p:sp>
        <p:nvSpPr>
          <p:cNvPr id="16" name="example-code">
            <a:extLst xmlns:a="http://schemas.openxmlformats.org/drawingml/2006/main">
              <a:ext uri="{FF2B5EF4-FFF2-40B4-BE49-F238E27FC236}">
                <a16:creationId xmlns:a16="http://schemas.microsoft.com/office/drawing/2014/main" id="{0E8BB63F-EC42-4F8E-A976-2D5FCF36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52925"/>
            <a:ext cx="4953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C40"/>
                </a:solidFill>
                <a:latin typeface="Consolas"/>
                <a:ea typeface="Consolas"/>
                <a:cs typeface="Consolas"/>
              </a:rPr>
              <a:t>var x = 0;  // base</a:t>
            </a:r>
          </a:p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C40"/>
                </a:solidFill>
                <a:latin typeface="Consolas"/>
                <a:ea typeface="Consolas"/>
                <a:cs typeface="Consolas"/>
              </a:rPr>
              <a:t>x = 1;      // L</a:t>
            </a:r>
          </a:p>
          <a:p xmlns:a="http://schemas.openxmlformats.org/drawingml/2006/main">
            <a:pPr algn="l">
              <a:defRPr sz="2175" b="0">
                <a:solidFill>
                  <a:srgbClr val="142C40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42C40"/>
                </a:solidFill>
                <a:latin typeface="Consolas"/>
                <a:ea typeface="Consolas"/>
                <a:cs typeface="Consolas"/>
              </a:rPr>
              <a:t>x = 2;      // R</a:t>
            </a:r>
          </a:p>
        </p:txBody>
      </p:sp>
      <p:sp>
        <p:nvSpPr>
          <p:cNvPr id="17" name="example-event">
            <a:extLst xmlns:a="http://schemas.openxmlformats.org/drawingml/2006/main">
              <a:ext uri="{FF2B5EF4-FFF2-40B4-BE49-F238E27FC236}">
                <a16:creationId xmlns:a16="http://schemas.microsoft.com/office/drawing/2014/main" id="{FA6A4E52-8390-4225-BADD-7BD6EDF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72125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6B8C"/>
                </a:solidFill>
                <a:latin typeface="Arial"/>
                <a:ea typeface="Arial"/>
                <a:cs typeface="Arial"/>
              </a:rPr>
              <a:t>1 evento OA: R sobrescreve x após L.</a:t>
            </a:r>
          </a:p>
        </p:txBody>
      </p:sp>
      <p:sp>
        <p:nvSpPr>
          <p:cNvPr id="18" name="result-limit">
            <a:extLst xmlns:a="http://schemas.openxmlformats.org/drawingml/2006/main">
              <a:ext uri="{FF2B5EF4-FFF2-40B4-BE49-F238E27FC236}">
                <a16:creationId xmlns:a16="http://schemas.microsoft.com/office/drawing/2014/main" id="{DCF6BF1C-F7E4-43D6-A63B-86548756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769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Nenhum alerta nas quatro execuções válidas. O resultado não comprova ausência de conflito.</a:t>
            </a:r>
          </a:p>
        </p:txBody>
      </p:sp>
    </p:spTree>
    <p:extLst>
      <p:ext uri="{BB962C8B-B14F-4D97-AF65-F5344CB8AC3E}">
        <p14:creationId xmlns:p14="http://schemas.microsoft.com/office/powerpoint/2010/main" val="1660452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1BFA460-E995-4673-A137-28204548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Limites e próximos passos</a:t>
            </a:r>
          </a:p>
        </p:txBody>
      </p:sp>
      <p:sp>
        <p:nvSpPr>
          <p:cNvPr id="3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ACEDBE87-5EC1-45BA-A4CA-A23A0677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C"/>
                </a:solidFill>
                <a:latin typeface="Arial"/>
                <a:ea typeface="Arial"/>
                <a:cs typeface="Arial"/>
              </a:rPr>
              <a:t>Limites atuais</a:t>
            </a:r>
          </a:p>
        </p:txBody>
      </p:sp>
      <p:sp>
        <p:nvSpPr>
          <p:cNvPr id="4" name="limit-one">
            <a:extLst xmlns:a="http://schemas.openxmlformats.org/drawingml/2006/main">
              <a:ext uri="{FF2B5EF4-FFF2-40B4-BE49-F238E27FC236}">
                <a16:creationId xmlns:a16="http://schemas.microsoft.com/office/drawing/2014/main" id="{E78CBEAA-7CB1-4A67-B89B-205923C7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857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Equivalência com o analisador</a:t>
            </a:r>
          </a:p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original não demonstrada.</a:t>
            </a:r>
          </a:p>
        </p:txBody>
      </p:sp>
      <p:sp>
        <p:nvSpPr>
          <p:cNvPr id="5" name="limit-two">
            <a:extLst xmlns:a="http://schemas.openxmlformats.org/drawingml/2006/main">
              <a:ext uri="{FF2B5EF4-FFF2-40B4-BE49-F238E27FC236}">
                <a16:creationId xmlns:a16="http://schemas.microsoft.com/office/drawing/2014/main" id="{60ECF687-6771-4E4B-BB5C-84E514DA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Apenas 1 das 4 execuções válidas</a:t>
            </a:r>
          </a:p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registrou eventos de L e R.</a:t>
            </a:r>
          </a:p>
        </p:txBody>
      </p:sp>
      <p:sp>
        <p:nvSpPr>
          <p:cNvPr id="6" name="limit-three">
            <a:extLst xmlns:a="http://schemas.openxmlformats.org/drawingml/2006/main">
              <a:ext uri="{FF2B5EF4-FFF2-40B4-BE49-F238E27FC236}">
                <a16:creationId xmlns:a16="http://schemas.microsoft.com/office/drawing/2014/main" id="{0D970CB1-89B5-4E19-BD3F-ECE753FE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O mapa textual e os modelos</a:t>
            </a:r>
          </a:p>
          <a:p xmlns:a="http://schemas.openxmlformats.org/drawingml/2006/main">
            <a:pPr algn="l">
              <a:defRPr sz="2025" b="0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C40"/>
                </a:solidFill>
                <a:latin typeface="Arial"/>
                <a:ea typeface="Arial"/>
                <a:cs typeface="Arial"/>
              </a:rPr>
              <a:t>de linguagem exigem revisão.</a:t>
            </a:r>
          </a:p>
        </p:txBody>
      </p:sp>
      <p:sp>
        <p:nvSpPr>
          <p:cNvPr id="7" name="next-title">
            <a:extLst xmlns:a="http://schemas.openxmlformats.org/drawingml/2006/main">
              <a:ext uri="{FF2B5EF4-FFF2-40B4-BE49-F238E27FC236}">
                <a16:creationId xmlns:a16="http://schemas.microsoft.com/office/drawing/2014/main" id="{6AC5AB5C-5B8B-46C2-ADC8-5090AAE9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28775"/>
            <a:ext cx="506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6B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B8C"/>
                </a:solidFill>
                <a:latin typeface="Arial"/>
                <a:ea typeface="Arial"/>
                <a:cs typeface="Arial"/>
              </a:rPr>
              <a:t>Próximos passos</a:t>
            </a:r>
          </a:p>
        </p:txBody>
      </p:sp>
      <p:sp>
        <p:nvSpPr>
          <p:cNvPr id="8" name="next-heading-0">
            <a:extLst xmlns:a="http://schemas.openxmlformats.org/drawingml/2006/main">
              <a:ext uri="{FF2B5EF4-FFF2-40B4-BE49-F238E27FC236}">
                <a16:creationId xmlns:a16="http://schemas.microsoft.com/office/drawing/2014/main" id="{A29A2FAD-A9EF-485E-9D4A-389CA37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57425"/>
            <a:ext cx="506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Revisão dos mapas</a:t>
            </a:r>
          </a:p>
        </p:txBody>
      </p:sp>
      <p:sp>
        <p:nvSpPr>
          <p:cNvPr id="9" name="next-body-0">
            <a:extLst xmlns:a="http://schemas.openxmlformats.org/drawingml/2006/main">
              <a:ext uri="{FF2B5EF4-FFF2-40B4-BE49-F238E27FC236}">
                <a16:creationId xmlns:a16="http://schemas.microsoft.com/office/drawing/2014/main" id="{341EF317-5CE2-4280-8496-67E829F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38425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Conferir a origem das linhas em casos reais.</a:t>
            </a:r>
          </a:p>
        </p:txBody>
      </p:sp>
      <p:sp>
        <p:nvSpPr>
          <p:cNvPr id="10" name="next-heading-1">
            <a:extLst xmlns:a="http://schemas.openxmlformats.org/drawingml/2006/main">
              <a:ext uri="{FF2B5EF4-FFF2-40B4-BE49-F238E27FC236}">
                <a16:creationId xmlns:a16="http://schemas.microsoft.com/office/drawing/2014/main" id="{88F2DC16-D41C-490E-B1BD-4873DE50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06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Validação independente</a:t>
            </a:r>
          </a:p>
        </p:txBody>
      </p:sp>
      <p:sp>
        <p:nvSpPr>
          <p:cNvPr id="11" name="next-body-1">
            <a:extLst xmlns:a="http://schemas.openxmlformats.org/drawingml/2006/main">
              <a:ext uri="{FF2B5EF4-FFF2-40B4-BE49-F238E27FC236}">
                <a16:creationId xmlns:a16="http://schemas.microsoft.com/office/drawing/2014/main" id="{CF8E26C9-6893-4480-9734-9E6F8350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38550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Confrontar com a suíte original ou referência rotulada.</a:t>
            </a:r>
          </a:p>
        </p:txBody>
      </p:sp>
      <p:sp>
        <p:nvSpPr>
          <p:cNvPr id="12" name="next-heading-2">
            <a:extLst xmlns:a="http://schemas.openxmlformats.org/drawingml/2006/main">
              <a:ext uri="{FF2B5EF4-FFF2-40B4-BE49-F238E27FC236}">
                <a16:creationId xmlns:a16="http://schemas.microsoft.com/office/drawing/2014/main" id="{60653B81-946B-4CF1-B31C-F0CF8E5E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57675"/>
            <a:ext cx="506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Ampliação da coleta oficial</a:t>
            </a:r>
          </a:p>
        </p:txBody>
      </p:sp>
      <p:sp>
        <p:nvSpPr>
          <p:cNvPr id="13" name="next-body-2">
            <a:extLst xmlns:a="http://schemas.openxmlformats.org/drawingml/2006/main">
              <a:ext uri="{FF2B5EF4-FFF2-40B4-BE49-F238E27FC236}">
                <a16:creationId xmlns:a16="http://schemas.microsoft.com/office/drawing/2014/main" id="{7BB23EB0-FD8E-41E8-9DEE-2F861BC2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38675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Aumentar a amostra e exercitar as contribuições.</a:t>
            </a:r>
          </a:p>
        </p:txBody>
      </p:sp>
      <p:sp>
        <p:nvSpPr>
          <p:cNvPr id="14" name="next-heading-3">
            <a:extLst xmlns:a="http://schemas.openxmlformats.org/drawingml/2006/main">
              <a:ext uri="{FF2B5EF4-FFF2-40B4-BE49-F238E27FC236}">
                <a16:creationId xmlns:a16="http://schemas.microsoft.com/office/drawing/2014/main" id="{0B8E82EA-3F6E-4FC4-A085-5E6BFCEA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257800"/>
            <a:ext cx="506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42C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C40"/>
                </a:solidFill>
                <a:latin typeface="Arial"/>
                <a:ea typeface="Arial"/>
                <a:cs typeface="Arial"/>
              </a:rPr>
              <a:t>Extensão com dataflow</a:t>
            </a:r>
          </a:p>
        </p:txBody>
      </p:sp>
      <p:sp>
        <p:nvSpPr>
          <p:cNvPr id="15" name="next-body-3">
            <a:extLst xmlns:a="http://schemas.openxmlformats.org/drawingml/2006/main">
              <a:ext uri="{FF2B5EF4-FFF2-40B4-BE49-F238E27FC236}">
                <a16:creationId xmlns:a16="http://schemas.microsoft.com/office/drawing/2014/main" id="{84D29410-584E-412A-8B0E-1A5E8A47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38800"/>
            <a:ext cx="5067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67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5"/>
                </a:solidFill>
                <a:latin typeface="Arial"/>
                <a:ea typeface="Arial"/>
                <a:cs typeface="Arial"/>
              </a:rPr>
              <a:t>Definir o desenho e os critérios com o orientador.</a:t>
            </a:r>
          </a:p>
        </p:txBody>
      </p:sp>
    </p:spTree>
    <p:extLst>
      <p:ext uri="{BB962C8B-B14F-4D97-AF65-F5344CB8AC3E}">
        <p14:creationId xmlns:p14="http://schemas.microsoft.com/office/powerpoint/2010/main" val="676925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2026-10-29T11:03:08.6550000Z</dcterms:created>
  <dcterms:modified xsi:type="dcterms:W3CDTF">2026-10-29T11:03:08.6550000Z</dcterms:modified>
</coreProperties>
</file>